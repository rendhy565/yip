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4572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ARC 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Transport Management System untuk Industri Logistik &amp; Kargo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3B82F6"/>
                </a:solidFill>
                <a:latin typeface="Calibri"/>
              </a:rPr>
              <a:t>Operasional · Akunting · Perpajakan — Terintegrasi Penuh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Sales Presentation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Masalah Industri Logistik Saat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Kenapa banyak perusahaan logistik kesulitan scale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101827"/>
                </a:solidFill>
                <a:latin typeface="Calibri"/>
              </a:rPr>
              <a:t>📊 Data tersebar di banyak Excel — sulit reconciliation</a:t>
            </a:r>
          </a:p>
          <a:p>
            <a:pPr algn="l" lvl="1">
              <a:lnSpc>
                <a:spcPct val="140000"/>
              </a:lnSpc>
            </a:pPr>
            <a:r>
              <a:rPr sz="1500" b="0">
                <a:solidFill>
                  <a:srgbClr val="101827"/>
                </a:solidFill>
                <a:latin typeface="Calibri"/>
              </a:rPr>
              <a:t>    Operasional pakai Excel, Finance pakai Excel beda, Pajak pakai Excel lagi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101827"/>
                </a:solidFill>
                <a:latin typeface="Calibri"/>
              </a:rPr>
              <a:t>💸 Margin per AWB tidak terlihat</a:t>
            </a:r>
          </a:p>
          <a:p>
            <a:pPr algn="l" lvl="1">
              <a:lnSpc>
                <a:spcPct val="140000"/>
              </a:lnSpc>
            </a:pPr>
            <a:r>
              <a:rPr sz="1500" b="0">
                <a:solidFill>
                  <a:srgbClr val="101827"/>
                </a:solidFill>
                <a:latin typeface="Calibri"/>
              </a:rPr>
              <a:t>    Sulit tahu rute/customer mana yang untung dan mana yang rugi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101827"/>
                </a:solidFill>
                <a:latin typeface="Calibri"/>
              </a:rPr>
              <a:t>🧾 PPN &amp; PPh dihitung manual setiap bulan</a:t>
            </a:r>
          </a:p>
          <a:p>
            <a:pPr algn="l" lvl="1">
              <a:lnSpc>
                <a:spcPct val="140000"/>
              </a:lnSpc>
            </a:pPr>
            <a:r>
              <a:rPr sz="1500" b="0">
                <a:solidFill>
                  <a:srgbClr val="101827"/>
                </a:solidFill>
                <a:latin typeface="Calibri"/>
              </a:rPr>
              <a:t>    Tim Finance buang waktu 3-5 hari setiap bulan untuk pelaporan pajak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101827"/>
                </a:solidFill>
                <a:latin typeface="Calibri"/>
              </a:rPr>
              <a:t>⏰ Tutup buku bulanan lambat &amp; rawan error</a:t>
            </a:r>
          </a:p>
          <a:p>
            <a:pPr algn="l" lvl="1">
              <a:lnSpc>
                <a:spcPct val="140000"/>
              </a:lnSpc>
            </a:pPr>
            <a:r>
              <a:rPr sz="1500" b="0">
                <a:solidFill>
                  <a:srgbClr val="101827"/>
                </a:solidFill>
                <a:latin typeface="Calibri"/>
              </a:rPr>
              <a:t>    Laporan keuangan tidak match dengan operasional — sulit ambil keputusan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101827"/>
                </a:solidFill>
                <a:latin typeface="Calibri"/>
              </a:rPr>
              <a:t>🔒 Audit trail lemah</a:t>
            </a:r>
          </a:p>
          <a:p>
            <a:pPr algn="l" lvl="1">
              <a:lnSpc>
                <a:spcPct val="140000"/>
              </a:lnSpc>
            </a:pPr>
            <a:r>
              <a:rPr sz="1500" b="0">
                <a:solidFill>
                  <a:srgbClr val="101827"/>
                </a:solidFill>
                <a:latin typeface="Calibri"/>
              </a:rPr>
              <a:t>    Sulit telusuri siapa update apa kapan — risiko fraud &amp; koreksi audit besar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Solusi: ARC Business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Satu sistem untuk Operasional + Akunting + Pajak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846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OPERASIONAL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Input AWB cepat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Plotting biaya per AWB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Penerimaan barang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Rekonsiliasi otomatis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Invoice bulk + PDF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Tracking customer (roadmap)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Master data customer &amp; vendor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657600" cy="4846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Settle hutang vendor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Panjar kerja (cash advance)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Pembayaran customer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Biaya tetap (overhead)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PPh 23 otomatis dipotong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Hutang &amp; piutang real-time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Bank reconciliation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657600" cy="484632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AKUNTING &amp; PAJAK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PSAK 72 compliant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Jurnal umum otomatis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Neraca real-time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Laporan Laba Rugi PSAK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PPN Keluaran &amp; Masukan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PPh tracking lengkap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✓ Tutup buku bulanan/tahunan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Keunggulan #1 — Compliance PSAK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Revenue recognition otomatis sesuai standar akuntansi terbaru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2C5C"/>
                </a:solidFill>
                <a:latin typeface="Calibri"/>
              </a:rPr>
              <a:t>Bagaimana ARC mengakui pendapatan?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1️⃣  Order masuk → DR PYMHD / CR Pendapatan Belum Diakui  (BUKAN langsung revenue)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2️⃣  Cost vendor masuk (= jasa berjalan) → DR Pendapatan Belum Diakui / CR Pendapatan  ✅ revenue recognized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3️⃣  Invoice dibuat → DR Piutang / CR PYMHD / CR PPN Keluaran  (Faktur Pajak terbit)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4️⃣  Customer bayar → DR Kas / CR Piutang  (Selesai)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C5C"/>
                </a:solidFill>
                <a:latin typeface="Calibri"/>
              </a:rPr>
              <a:t>🎯 Hasil bagi bisnis 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Laba Rugi Order = Laporan Laba Rugi Akunting = Neraca  →  semua laporan SINKRON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Tidak ada lagi 'revenue overstatement' di bulan ramai → laporan keuangan dipercaya investor &amp; auditor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Auditor &amp; DJP happy — pengakuan revenue sesuai performance obligation (jasa selesai)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Keunggulan #2 — Otomatisasi Perpajakan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Hemat 3-5 hari kerja tim Finance setiap bulan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101827"/>
                </a:solidFill>
                <a:latin typeface="Calibri"/>
              </a:rPr>
              <a:t>PPN Keluaran</a:t>
            </a:r>
          </a:p>
          <a:p>
            <a:pPr algn="l" lvl="1">
              <a:lnSpc>
                <a:spcPct val="140000"/>
              </a:lnSpc>
            </a:pPr>
            <a:r>
              <a:rPr sz="1400" b="0">
                <a:solidFill>
                  <a:srgbClr val="101827"/>
                </a:solidFill>
                <a:latin typeface="Calibri"/>
              </a:rPr>
              <a:t>Auto-post saat invoice dibuat. Saldo 2210 selalu update real-time.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101827"/>
                </a:solidFill>
                <a:latin typeface="Calibri"/>
              </a:rPr>
              <a:t>PPN Masukan</a:t>
            </a:r>
          </a:p>
          <a:p>
            <a:pPr algn="l" lvl="1">
              <a:lnSpc>
                <a:spcPct val="140000"/>
              </a:lnSpc>
            </a:pPr>
            <a:r>
              <a:rPr sz="1400" b="0">
                <a:solidFill>
                  <a:srgbClr val="101827"/>
                </a:solidFill>
                <a:latin typeface="Calibri"/>
              </a:rPr>
              <a:t>Input manual cepat lewat popup. Auto-post jurnal DR Beban + DR PPN Masukan / CR Kas.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101827"/>
                </a:solidFill>
                <a:latin typeface="Calibri"/>
              </a:rPr>
              <a:t>PPh 23 Vendor</a:t>
            </a:r>
          </a:p>
          <a:p>
            <a:pPr algn="l" lvl="1">
              <a:lnSpc>
                <a:spcPct val="140000"/>
              </a:lnSpc>
            </a:pPr>
            <a:r>
              <a:rPr sz="1400" b="0">
                <a:solidFill>
                  <a:srgbClr val="101827"/>
                </a:solidFill>
                <a:latin typeface="Calibri"/>
              </a:rPr>
              <a:t>Otomatis dipotong saat settle hutang vendor — sesuai pph_type di master vendor (2%/0.5%).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101827"/>
                </a:solidFill>
                <a:latin typeface="Calibri"/>
              </a:rPr>
              <a:t>PPh 21 Payroll</a:t>
            </a:r>
          </a:p>
          <a:p>
            <a:pPr algn="l" lvl="1">
              <a:lnSpc>
                <a:spcPct val="140000"/>
              </a:lnSpc>
            </a:pPr>
            <a:r>
              <a:rPr sz="1400" b="0">
                <a:solidFill>
                  <a:srgbClr val="101827"/>
                </a:solidFill>
                <a:latin typeface="Calibri"/>
              </a:rPr>
              <a:t>Auto-deduct 5% saat gross ≥ Rp 5jt di payroll.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101827"/>
                </a:solidFill>
                <a:latin typeface="Calibri"/>
              </a:rPr>
              <a:t>Audit trail lengkap</a:t>
            </a:r>
          </a:p>
          <a:p>
            <a:pPr algn="l" lvl="1">
              <a:lnSpc>
                <a:spcPct val="140000"/>
              </a:lnSpc>
            </a:pPr>
            <a:r>
              <a:rPr sz="1400" b="0">
                <a:solidFill>
                  <a:srgbClr val="101827"/>
                </a:solidFill>
                <a:latin typeface="Calibri"/>
              </a:rPr>
              <a:t>Setiap potongan PPh tercatat di db.pph_records dengan badge AUTO + linked ke transaksi sumber.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101827"/>
                </a:solidFill>
                <a:latin typeface="Calibri"/>
              </a:rPr>
              <a:t>Pelaporan SPT Masa</a:t>
            </a:r>
          </a:p>
          <a:p>
            <a:pPr algn="l" lvl="1">
              <a:lnSpc>
                <a:spcPct val="140000"/>
              </a:lnSpc>
            </a:pPr>
            <a:r>
              <a:rPr sz="1400" b="0">
                <a:solidFill>
                  <a:srgbClr val="101827"/>
                </a:solidFill>
                <a:latin typeface="Calibri"/>
              </a:rPr>
              <a:t>Export laporan PPN/PPh per periode siap di-import ke aplikasi e-Faktur DJP &amp; e-Bupot.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Dashboard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KPI bisnis dalam satu pandangan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4 KPI Utama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AWB Open · Reconciled · Invoiced · Paid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Pipeline PYMHD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Saldo Pendapatan Yang Masih Harus Diterima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Top customer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Lihat customer pipeline terbesar real-time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Quick navigation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Shortcut ke modul yang paling sering dipakai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Manajemen AWB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Dari input order sampai invoice — satu alur seamless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Filter advanced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AND/OR toggle, search per kolom, pagination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Status workflow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Open → Reconciled → Invoiced → Paid (otomatis)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Bulk action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Reconcile banyak AWB sekaligus + bulk print PDF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Excel Import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Migrasi data historis bulk dengan validasi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Modul Perpajakan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PPN &amp; PPh tracking lengkap dengan auto-deduction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PPN Keluaran auto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Dari invoice penjualan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PPN Masukan manual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Input cepat lewat popup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Selisih real-time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Kurang/Lebih bayar otomatis dihitung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PPh records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Auto + manual, badge AUTO untuk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Security &amp; Multi-User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Permission granular per modul + audit trail lengkap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0"/>
            <a:ext cx="4114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01827"/>
                </a:solidFill>
                <a:latin typeface="Calibri"/>
              </a:rPr>
              <a:t>3 Role utama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101827"/>
                </a:solidFill>
                <a:latin typeface="Calibri"/>
              </a:rPr>
              <a:t>Administrator · Finance · Operation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01827"/>
                </a:solidFill>
                <a:latin typeface="Calibri"/>
              </a:rPr>
              <a:t>18+ permission modul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101827"/>
                </a:solidFill>
                <a:latin typeface="Calibri"/>
              </a:rPr>
              <a:t>Admin grant per user (operasional, finance, akunting, pajak, HR, dll)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01827"/>
                </a:solidFill>
                <a:latin typeface="Calibri"/>
              </a:rPr>
              <a:t>Feature flags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101827"/>
                </a:solidFill>
                <a:latin typeface="Calibri"/>
              </a:rPr>
              <a:t>Aktifkan/nonaktifkan modul global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01827"/>
                </a:solidFill>
                <a:latin typeface="Calibri"/>
              </a:rPr>
              <a:t>Audit trail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101827"/>
                </a:solidFill>
                <a:latin typeface="Calibri"/>
              </a:rPr>
              <a:t>Setiap action user tercatat dengan timestamp &amp; user ID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01827"/>
                </a:solidFill>
                <a:latin typeface="Calibri"/>
              </a:rPr>
              <a:t>Period locking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101827"/>
                </a:solidFill>
                <a:latin typeface="Calibri"/>
              </a:rPr>
              <a:t>Jurnal periode tutup buku tidak bisa diubah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01827"/>
                </a:solidFill>
                <a:latin typeface="Calibri"/>
              </a:rPr>
              <a:t>Password hashing</a:t>
            </a:r>
          </a:p>
          <a:p>
            <a:pPr algn="l" lvl="1">
              <a:lnSpc>
                <a:spcPct val="140000"/>
              </a:lnSpc>
            </a:pPr>
            <a:r>
              <a:rPr sz="1100" b="0">
                <a:solidFill>
                  <a:srgbClr val="101827"/>
                </a:solidFill>
                <a:latin typeface="Calibri"/>
              </a:rPr>
              <a:t>Bcrypt dengan salt — sesuai best practice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Hitung dampak finansial untuk bisnis Anda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59669"/>
                </a:solidFill>
                <a:latin typeface="Calibri"/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C5C"/>
                </a:solidFill>
                <a:latin typeface="Calibri"/>
              </a:rPr>
              <a:t>Waktu Tutup Buku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Dari 5 hari jadi 1.5 hari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C5C"/>
                </a:solidFill>
                <a:latin typeface="Calibri"/>
              </a:rPr>
              <a:t>Akurasi Pajak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Otomatis sesuai PSAK &amp; DJP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65760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63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D97706"/>
                </a:solidFill>
                <a:latin typeface="Calibri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C5C"/>
                </a:solidFill>
                <a:latin typeface="Calibri"/>
              </a:rPr>
              <a:t>Visibility Bisnis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/pnl = /IS = /Neraca selalu sinkron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C5C"/>
                </a:solidFill>
                <a:latin typeface="Calibri"/>
              </a:rPr>
              <a:t>💼 Manfaat operasional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Tim Finance fokus ke analisis bisnis, bukan input data manual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Margin per AWB / per customer transparan → keputusan strategis lebih cepat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Audit eksternal lebih lancar — semua jurnal auto-traceable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Skalabilitas siap — bisa handle 10x volume tanpa tambah tim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• Tutup buku bulanan tepat waktu → komite manajemen rapat dengan data segar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Teknologi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Modern stack, cloud-ready, low TCO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Stack teknis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Backend: Python FastAPI (async, high-performance)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Database: MongoDB (skema flexible, scalable)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Frontend: React + Tailwind CSS + Shadcn UI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Authentication: JWT + bcrypt password hashing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PDF generation: weasyprint / reportlab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Excel: openpyxl untuk export/import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Deployment options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Cloud hosted (managed)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On-premise di server klien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Hybrid (data on-prem, frontend cloud)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Docker-ready, microservice friendly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1827"/>
                </a:solidFill>
                <a:latin typeface="Calibri"/>
              </a:rPr>
              <a:t>Backup &amp; recovery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MongoDB dump otomatis harian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Audit log immutable</a:t>
            </a:r>
          </a:p>
          <a:p>
            <a:pPr algn="l" lvl="1">
              <a:lnSpc>
                <a:spcPct val="140000"/>
              </a:lnSpc>
            </a:pPr>
            <a:r>
              <a:rPr sz="1200" b="0">
                <a:solidFill>
                  <a:srgbClr val="101827"/>
                </a:solidFill>
                <a:latin typeface="Calibri"/>
              </a:rPr>
              <a:t>• Period closing snapshot tersimpan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ARC Business Suite — TMS untuk industri logistik &amp; kargo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Siap upgrade sistem TMS Anda?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Demo, konsultasi, dan customisasi — kami siap bantu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200400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🎬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Trial 14 hari
Full feature, data sandbox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200400"/>
            <a:ext cx="3200400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📞 KONSULTASI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Free assessment
Mapping kebutuhan bisnis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200400"/>
            <a:ext cx="3200400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🚀 CUSTOMISASI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Modul khusus + integration
dengan sistem existing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B82F6"/>
                </a:solidFill>
                <a:latin typeface="Calibri"/>
              </a:rPr>
              <a:t>Hubungi: [email/telepon Anda] · [website Anda]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